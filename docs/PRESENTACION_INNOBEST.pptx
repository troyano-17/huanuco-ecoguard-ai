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En blanco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HUÁNUCO</a:t>
            </a:r>
            <a:endParaRPr lang="es-PE"/>
          </a:p>
          <a:p>
            <a:r>
              <a:rPr lang="es-PE" sz="4400" b="1">
                <a:solidFill>
                  <a:srgbClr val="FFFFFF"/>
                </a:solidFill>
                <a:latin typeface="Aptos"/>
              </a:rPr>
              <a:t>ECOGUARD AI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2377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Inteligencia artificial para la educación ambiental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30632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Proyecto académico INNOBEST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Python · YOLO11n-cls · Google Colab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4434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Preparación para Render y MongoDB Atlas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Estado: entrenamiento finalizado; recuperación y publicación pendientes.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1</a:t>
            </a:r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Observar el entorno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Problemática ambiental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Fotografías de humo, residuos y alteraciones visibles del entorno.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Organizar estas observaciones ayuda a comunicar problemas ambientales.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Una imagen por sí sola no permite medir sustancias ni certificar contaminación.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El enunciado específico de INNOBEST no consta en los archivos revisados.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2</a:t>
            </a:r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Un objetivo concreto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Clasificación visual y orientación ambiental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Reconocer tres categorías: aire, agua y suelo contaminados.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Presentar puntuaciones, interpretación y recomendaciones generales.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Guardar metadatos del análisis y consultar historial y estadísticas.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La herramienta apoya la educación ambiental; requiere interpretación humana.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3</a:t>
            </a:r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De la imagen al resultado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Solución de inteligencia artificial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YOLO11n-cls: clasificación de la fotografía completa.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El modelo siempre selecciona una de las tres clases entrenadas.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No incluye una clase de ambiente limpio ni detecta concentraciones químicas.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Las puntuaciones del clasificador no están calibradas como diagnóstico ambiental.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4</a:t>
            </a:r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165 fotografías originales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Dataset y preparación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151 fotografías únicas identificadas; 14 repeticiones excluidas de la partición.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105 imágenes de entrenamiento · 23 de validación · 23 de prueba.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Respaldo original conservado localmente; SHA256 verificado.</a:t>
            </a:r>
            <a:endParaRPr lang="es-PE"/>
          </a:p>
        </p:txBody>
      </p:sp>
      <p:sp>
        <p:nvSpPr>
          <p:cNvPr id="13" name="Texto 13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Google Drive: acceso y disponibilidad actuales pendientes de autenticación.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No se modifica ni se regenera el dataset. Particiones originales por recuperar.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5</a:t>
            </a:r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Arquitectura del sistema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Python de principio a fin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Fotografía → Gradio → validación de formato y tamaño.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CPU → modelo original / ONNX derivado con comparación obligatoria.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Puntuaciones → interpretación visual → recomendaciones.</a:t>
            </a:r>
            <a:endParaRPr lang="es-PE"/>
          </a:p>
        </p:txBody>
      </p:sp>
      <p:sp>
        <p:nvSpPr>
          <p:cNvPr id="13" name="Texto 13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MongoDB Atlas ← fecha, categoría, puntuaciones, versión e identificador.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Google Drive conserva los originales; Render ejecutará la aplicación web.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6</a:t>
            </a:r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100 épocas completadas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Entrenamiento en Google Colab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Modelo: YOLO11n-cls · Ultralytics · Python.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GPU utilizada durante el entrenamiento: NVIDIA Tesla T4 con CUDA.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Mejor exactitud reportada en validación: 95,7 %.</a:t>
            </a:r>
            <a:endParaRPr lang="es-PE"/>
          </a:p>
        </p:txBody>
      </p:sp>
      <p:sp>
        <p:nvSpPr>
          <p:cNvPr id="13" name="Texto 13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La inferencia de producción se prepara para CPU; no requiere GPU.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best.pt y last.pt pendientes de recuperación. No se repetirá el entrenamiento.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7</a:t>
            </a:r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21 aciertos de 23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Resultados reales del test reservado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468880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Exactitud: 91,30 % (91,3043 % sin redondear).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2971800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Matriz recuperada del historial original; archivos originales pendientes.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474720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Filas: clase real. Columnas: clase predicha. Orden: agua, aire, suelo.</a:t>
            </a:r>
            <a:endParaRPr lang="es-PE"/>
          </a:p>
        </p:txBody>
      </p:sp>
      <p:sp>
        <p:nvSpPr>
          <p:cNvPr id="30" name="Texto 30"/>
          <p:cNvSpPr txBox="1"/>
          <p:nvPr/>
        </p:nvSpPr>
        <p:spPr>
          <a:xfrm>
            <a:off x="1005840" y="4297680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Real / Predicha</a:t>
            </a:r>
            <a:endParaRPr lang="es-PE"/>
          </a:p>
        </p:txBody>
      </p:sp>
      <p:sp>
        <p:nvSpPr>
          <p:cNvPr id="31" name="Texto 31"/>
          <p:cNvSpPr txBox="1"/>
          <p:nvPr/>
        </p:nvSpPr>
        <p:spPr>
          <a:xfrm>
            <a:off x="3474720" y="4297680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Agua</a:t>
            </a:r>
            <a:endParaRPr lang="es-PE"/>
          </a:p>
        </p:txBody>
      </p:sp>
      <p:sp>
        <p:nvSpPr>
          <p:cNvPr id="32" name="Texto 32"/>
          <p:cNvSpPr txBox="1"/>
          <p:nvPr/>
        </p:nvSpPr>
        <p:spPr>
          <a:xfrm>
            <a:off x="5943600" y="4297680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Aire</a:t>
            </a:r>
            <a:endParaRPr lang="es-PE"/>
          </a:p>
        </p:txBody>
      </p:sp>
      <p:sp>
        <p:nvSpPr>
          <p:cNvPr id="33" name="Texto 33"/>
          <p:cNvSpPr txBox="1"/>
          <p:nvPr/>
        </p:nvSpPr>
        <p:spPr>
          <a:xfrm>
            <a:off x="8412480" y="4297680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Suelo</a:t>
            </a:r>
            <a:endParaRPr lang="es-PE"/>
          </a:p>
        </p:txBody>
      </p:sp>
      <p:sp>
        <p:nvSpPr>
          <p:cNvPr id="34" name="Texto 34"/>
          <p:cNvSpPr txBox="1"/>
          <p:nvPr/>
        </p:nvSpPr>
        <p:spPr>
          <a:xfrm>
            <a:off x="1005840" y="4681728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Agua</a:t>
            </a:r>
            <a:endParaRPr lang="es-PE"/>
          </a:p>
        </p:txBody>
      </p:sp>
      <p:sp>
        <p:nvSpPr>
          <p:cNvPr id="35" name="Texto 35"/>
          <p:cNvSpPr txBox="1"/>
          <p:nvPr/>
        </p:nvSpPr>
        <p:spPr>
          <a:xfrm>
            <a:off x="3474720" y="4681728"/>
            <a:ext cx="2377440" cy="365760"/>
          </a:xfrm>
          <a:prstGeom prst="rect">
            <a:avLst/>
          </a:prstGeom>
          <a:solidFill>
            <a:srgbClr val="227C65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4</a:t>
            </a:r>
            <a:endParaRPr lang="es-PE"/>
          </a:p>
        </p:txBody>
      </p:sp>
      <p:sp>
        <p:nvSpPr>
          <p:cNvPr id="36" name="Texto 36"/>
          <p:cNvSpPr txBox="1"/>
          <p:nvPr/>
        </p:nvSpPr>
        <p:spPr>
          <a:xfrm>
            <a:off x="5943600" y="4681728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0</a:t>
            </a:r>
            <a:endParaRPr lang="es-PE"/>
          </a:p>
        </p:txBody>
      </p:sp>
      <p:sp>
        <p:nvSpPr>
          <p:cNvPr id="37" name="Texto 37"/>
          <p:cNvSpPr txBox="1"/>
          <p:nvPr/>
        </p:nvSpPr>
        <p:spPr>
          <a:xfrm>
            <a:off x="8412480" y="4681728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2</a:t>
            </a:r>
            <a:endParaRPr lang="es-PE"/>
          </a:p>
        </p:txBody>
      </p:sp>
      <p:sp>
        <p:nvSpPr>
          <p:cNvPr id="38" name="Texto 38"/>
          <p:cNvSpPr txBox="1"/>
          <p:nvPr/>
        </p:nvSpPr>
        <p:spPr>
          <a:xfrm>
            <a:off x="1005840" y="5065776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Aire</a:t>
            </a:r>
            <a:endParaRPr lang="es-PE"/>
          </a:p>
        </p:txBody>
      </p:sp>
      <p:sp>
        <p:nvSpPr>
          <p:cNvPr id="39" name="Texto 39"/>
          <p:cNvSpPr txBox="1"/>
          <p:nvPr/>
        </p:nvSpPr>
        <p:spPr>
          <a:xfrm>
            <a:off x="3474720" y="5065776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0</a:t>
            </a:r>
            <a:endParaRPr lang="es-PE"/>
          </a:p>
        </p:txBody>
      </p:sp>
      <p:sp>
        <p:nvSpPr>
          <p:cNvPr id="40" name="Texto 40"/>
          <p:cNvSpPr txBox="1"/>
          <p:nvPr/>
        </p:nvSpPr>
        <p:spPr>
          <a:xfrm>
            <a:off x="5943600" y="5065776"/>
            <a:ext cx="2377440" cy="365760"/>
          </a:xfrm>
          <a:prstGeom prst="rect">
            <a:avLst/>
          </a:prstGeom>
          <a:solidFill>
            <a:srgbClr val="227C65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10</a:t>
            </a:r>
            <a:endParaRPr lang="es-PE"/>
          </a:p>
        </p:txBody>
      </p:sp>
      <p:sp>
        <p:nvSpPr>
          <p:cNvPr id="41" name="Texto 41"/>
          <p:cNvSpPr txBox="1"/>
          <p:nvPr/>
        </p:nvSpPr>
        <p:spPr>
          <a:xfrm>
            <a:off x="8412480" y="5065776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0</a:t>
            </a:r>
            <a:endParaRPr lang="es-PE"/>
          </a:p>
        </p:txBody>
      </p:sp>
      <p:sp>
        <p:nvSpPr>
          <p:cNvPr id="42" name="Texto 42"/>
          <p:cNvSpPr txBox="1"/>
          <p:nvPr/>
        </p:nvSpPr>
        <p:spPr>
          <a:xfrm>
            <a:off x="1005840" y="5449824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Suelo</a:t>
            </a:r>
            <a:endParaRPr lang="es-PE"/>
          </a:p>
        </p:txBody>
      </p:sp>
      <p:sp>
        <p:nvSpPr>
          <p:cNvPr id="43" name="Texto 43"/>
          <p:cNvSpPr txBox="1"/>
          <p:nvPr/>
        </p:nvSpPr>
        <p:spPr>
          <a:xfrm>
            <a:off x="3474720" y="5449824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0</a:t>
            </a:r>
            <a:endParaRPr lang="es-PE"/>
          </a:p>
        </p:txBody>
      </p:sp>
      <p:sp>
        <p:nvSpPr>
          <p:cNvPr id="44" name="Texto 44"/>
          <p:cNvSpPr txBox="1"/>
          <p:nvPr/>
        </p:nvSpPr>
        <p:spPr>
          <a:xfrm>
            <a:off x="5943600" y="5449824"/>
            <a:ext cx="2377440" cy="365760"/>
          </a:xfrm>
          <a:prstGeom prst="rect">
            <a:avLst/>
          </a:prstGeom>
          <a:solidFill>
            <a:srgbClr val="1B4540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0</a:t>
            </a:r>
            <a:endParaRPr lang="es-PE"/>
          </a:p>
        </p:txBody>
      </p:sp>
      <p:sp>
        <p:nvSpPr>
          <p:cNvPr id="45" name="Texto 45"/>
          <p:cNvSpPr txBox="1"/>
          <p:nvPr/>
        </p:nvSpPr>
        <p:spPr>
          <a:xfrm>
            <a:off x="8412480" y="5449824"/>
            <a:ext cx="2377440" cy="365760"/>
          </a:xfrm>
          <a:prstGeom prst="rect">
            <a:avLst/>
          </a:prstGeom>
          <a:solidFill>
            <a:srgbClr val="227C65"/>
          </a:solidFill>
          <a:ln>
            <a:noFill/>
          </a:ln>
        </p:spPr>
        <p:txBody>
          <a:bodyPr wrap="square"/>
          <a:lstStyle/>
          <a:p>
            <a:r>
              <a:rPr lang="es-PE" sz="1600" b="0">
                <a:solidFill>
                  <a:srgbClr val="FFFFFF"/>
                </a:solidFill>
                <a:latin typeface="Aptos"/>
              </a:rPr>
              <a:t>7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Conjunto pequeño: estos resultados no garantizan rendimiento en otras condiciones.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8</a:t>
            </a:r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Aplicación preparada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Render y MongoDB Atlas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Interfaz en español: carga, vista previa, puntuaciones e historial.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Persistencia implementada sin guardar fotografías completas.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Render Free: 512 MB y 0,1 CPU; consumo real todavía por medir.</a:t>
            </a:r>
            <a:endParaRPr lang="es-PE"/>
          </a:p>
        </p:txBody>
      </p:sp>
      <p:sp>
        <p:nvSpPr>
          <p:cNvPr id="13" name="Texto 13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Sin URL pública ni conexión Atlas verificadas en esta auditoría.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ONNX solo se habilita después de comparar fotografías reales contra best.pt.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9</a:t>
            </a:r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o 2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79D4AF"/>
                </a:solidFill>
                <a:latin typeface="Aptos"/>
              </a:rPr>
              <a:t>INNOBEST  /  INTELIGENCIA ARTIFICIAL AMBIENTAL</a:t>
            </a:r>
            <a:endParaRPr lang="es-PE"/>
          </a:p>
        </p:txBody>
      </p:sp>
      <p:sp>
        <p:nvSpPr>
          <p:cNvPr id="3" name="Texto 3"/>
          <p:cNvSpPr txBox="1"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4400" b="1">
                <a:solidFill>
                  <a:srgbClr val="FFFFFF"/>
                </a:solidFill>
                <a:latin typeface="Aptos"/>
              </a:rPr>
              <a:t>Demostrar con evidencia</a:t>
            </a:r>
            <a:endParaRPr lang="es-PE"/>
          </a:p>
        </p:txBody>
      </p:sp>
      <p:sp>
        <p:nvSpPr>
          <p:cNvPr id="4" name="Texto 4"/>
          <p:cNvSpPr txBox="1"/>
          <p:nvPr/>
        </p:nvSpPr>
        <p:spPr>
          <a:xfrm>
            <a:off x="594360" y="1783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2300" b="0">
                <a:solidFill>
                  <a:srgbClr val="79D4AF"/>
                </a:solidFill>
                <a:latin typeface="Aptos"/>
              </a:rPr>
              <a:t>Conclusiones y próximos pasos</a:t>
            </a:r>
            <a:endParaRPr lang="es-PE"/>
          </a:p>
        </p:txBody>
      </p:sp>
      <p:sp>
        <p:nvSpPr>
          <p:cNvPr id="10" name="Texto 10"/>
          <p:cNvSpPr txBox="1"/>
          <p:nvPr/>
        </p:nvSpPr>
        <p:spPr>
          <a:xfrm>
            <a:off x="731520" y="26060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Recuperar entrega.zip desde la cuenta de Drive del entrenamiento.</a:t>
            </a:r>
            <a:endParaRPr lang="es-PE"/>
          </a:p>
        </p:txBody>
      </p:sp>
      <p:sp>
        <p:nvSpPr>
          <p:cNvPr id="11" name="Texto 11"/>
          <p:cNvSpPr txBox="1"/>
          <p:nvPr/>
        </p:nvSpPr>
        <p:spPr>
          <a:xfrm>
            <a:off x="731520" y="32918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Verificar originales y comparar ONNX antes de incorporarlo al despliegue.</a:t>
            </a:r>
            <a:endParaRPr lang="es-PE"/>
          </a:p>
        </p:txBody>
      </p:sp>
      <p:sp>
        <p:nvSpPr>
          <p:cNvPr id="12" name="Texto 12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Conectar Atlas, publicar con autorización y probar una fotografía nueva.</a:t>
            </a:r>
            <a:endParaRPr lang="es-PE"/>
          </a:p>
        </p:txBody>
      </p:sp>
      <p:sp>
        <p:nvSpPr>
          <p:cNvPr id="13" name="Texto 13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800" b="0">
                <a:solidFill>
                  <a:srgbClr val="E8F3EE"/>
                </a:solidFill>
                <a:latin typeface="Aptos"/>
              </a:rPr>
              <a:t>•  Demostrar el registro guardado y explicar los límites del sistema.</a:t>
            </a:r>
            <a:endParaRPr lang="es-PE"/>
          </a:p>
        </p:txBody>
      </p:sp>
      <p:sp>
        <p:nvSpPr>
          <p:cNvPr id="80" name="Texto 80"/>
          <p:cNvSpPr txBox="1"/>
          <p:nvPr/>
        </p:nvSpPr>
        <p:spPr>
          <a:xfrm>
            <a:off x="59436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300" b="0">
                <a:solidFill>
                  <a:srgbClr val="B4CCC4"/>
                </a:solidFill>
                <a:latin typeface="Aptos"/>
              </a:rPr>
              <a:t>No se simula una demostración cuando falta el modelo. Guion oral: ~5 minutos.</a:t>
            </a:r>
            <a:endParaRPr lang="es-PE"/>
          </a:p>
        </p:txBody>
      </p:sp>
      <p:sp>
        <p:nvSpPr>
          <p:cNvPr id="81" name="Texto 81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PE" sz="1200" b="0">
                <a:solidFill>
                  <a:srgbClr val="79D4AF"/>
                </a:solidFill>
                <a:latin typeface="Aptos"/>
              </a:rPr>
              <a:t>10</a:t>
            </a:r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Guard">
  <a:themeElements>
    <a:clrScheme name="EcoGuard">
      <a:dk1>
        <a:srgbClr val="102C29"/>
      </a:dk1>
      <a:lt1>
        <a:srgbClr val="FFFFFF"/>
      </a:lt1>
      <a:dk2>
        <a:srgbClr val="1B4540"/>
      </a:dk2>
      <a:lt2>
        <a:srgbClr val="E8F3EE"/>
      </a:lt2>
      <a:accent1>
        <a:srgbClr val="79D4AF"/>
      </a:accent1>
      <a:accent2>
        <a:srgbClr val="227C65"/>
      </a:accent2>
      <a:accent3>
        <a:srgbClr val="D8B56B"/>
      </a:accent3>
      <a:accent4>
        <a:srgbClr val="659CB1"/>
      </a:accent4>
      <a:accent5>
        <a:srgbClr val="C9806D"/>
      </a:accent5>
      <a:accent6>
        <a:srgbClr val="B4CCC4"/>
      </a:accent6>
      <a:hlink>
        <a:srgbClr val="79D4AF"/>
      </a:hlink>
      <a:folHlink>
        <a:srgbClr val="B4CCC4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coGu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